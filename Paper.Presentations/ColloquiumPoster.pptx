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1616"/>
    <a:srgbClr val="8D1717"/>
    <a:srgbClr val="901818"/>
    <a:srgbClr val="872121"/>
    <a:srgbClr val="8A2222"/>
    <a:srgbClr val="842020"/>
    <a:srgbClr val="E9CECD"/>
    <a:srgbClr val="99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C0332-9FE9-4077-95B7-614436308BD1}" v="2" dt="2025-11-02T20:16:10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9" d="100"/>
          <a:sy n="19" d="100"/>
        </p:scale>
        <p:origin x="123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Huling" userId="7fecaf121c86c6ed" providerId="LiveId" clId="{39F7B66F-845A-4B48-A8CC-360C6F3E2521}"/>
    <pc:docChg chg="undo custSel addSld modSld">
      <pc:chgData name="Evan Huling" userId="7fecaf121c86c6ed" providerId="LiveId" clId="{39F7B66F-845A-4B48-A8CC-360C6F3E2521}" dt="2025-11-02T20:16:47.851" v="2187" actId="14100"/>
      <pc:docMkLst>
        <pc:docMk/>
      </pc:docMkLst>
      <pc:sldChg chg="addSp delSp modSp new mod">
        <pc:chgData name="Evan Huling" userId="7fecaf121c86c6ed" providerId="LiveId" clId="{39F7B66F-845A-4B48-A8CC-360C6F3E2521}" dt="2025-11-02T20:16:47.851" v="2187" actId="14100"/>
        <pc:sldMkLst>
          <pc:docMk/>
          <pc:sldMk cId="1179142833" sldId="256"/>
        </pc:sldMkLst>
        <pc:spChg chg="add mod">
          <ac:chgData name="Evan Huling" userId="7fecaf121c86c6ed" providerId="LiveId" clId="{39F7B66F-845A-4B48-A8CC-360C6F3E2521}" dt="2025-11-02T20:16:46.064" v="2186" actId="14100"/>
          <ac:spMkLst>
            <pc:docMk/>
            <pc:sldMk cId="1179142833" sldId="256"/>
            <ac:spMk id="5" creationId="{26BE9CCD-3C3A-68A8-099F-9AC921038DE3}"/>
          </ac:spMkLst>
        </pc:spChg>
        <pc:spChg chg="add mod">
          <ac:chgData name="Evan Huling" userId="7fecaf121c86c6ed" providerId="LiveId" clId="{39F7B66F-845A-4B48-A8CC-360C6F3E2521}" dt="2025-11-02T20:16:47.851" v="2187" actId="14100"/>
          <ac:spMkLst>
            <pc:docMk/>
            <pc:sldMk cId="1179142833" sldId="256"/>
            <ac:spMk id="6" creationId="{06D3EC2D-7F08-1E41-2590-3C85613C5D1E}"/>
          </ac:spMkLst>
        </pc:spChg>
        <pc:spChg chg="add mod">
          <ac:chgData name="Evan Huling" userId="7fecaf121c86c6ed" providerId="LiveId" clId="{39F7B66F-845A-4B48-A8CC-360C6F3E2521}" dt="2025-10-29T18:34:04.263" v="2077" actId="1076"/>
          <ac:spMkLst>
            <pc:docMk/>
            <pc:sldMk cId="1179142833" sldId="256"/>
            <ac:spMk id="7" creationId="{E31FA394-C3D9-EF5D-589B-20A068CB2207}"/>
          </ac:spMkLst>
        </pc:spChg>
        <pc:spChg chg="add mod">
          <ac:chgData name="Evan Huling" userId="7fecaf121c86c6ed" providerId="LiveId" clId="{39F7B66F-845A-4B48-A8CC-360C6F3E2521}" dt="2025-10-29T18:34:27.011" v="2081" actId="1076"/>
          <ac:spMkLst>
            <pc:docMk/>
            <pc:sldMk cId="1179142833" sldId="256"/>
            <ac:spMk id="8" creationId="{8FD3BE16-0957-74B3-1D59-4651B9247FFD}"/>
          </ac:spMkLst>
        </pc:spChg>
        <pc:spChg chg="add mod">
          <ac:chgData name="Evan Huling" userId="7fecaf121c86c6ed" providerId="LiveId" clId="{39F7B66F-845A-4B48-A8CC-360C6F3E2521}" dt="2025-10-29T18:32:52.417" v="2063" actId="1076"/>
          <ac:spMkLst>
            <pc:docMk/>
            <pc:sldMk cId="1179142833" sldId="256"/>
            <ac:spMk id="16" creationId="{7C87D8C5-5213-9E92-1D3E-FE867157D385}"/>
          </ac:spMkLst>
        </pc:spChg>
        <pc:spChg chg="add mod">
          <ac:chgData name="Evan Huling" userId="7fecaf121c86c6ed" providerId="LiveId" clId="{39F7B66F-845A-4B48-A8CC-360C6F3E2521}" dt="2025-10-28T23:59:26.755" v="2016" actId="255"/>
          <ac:spMkLst>
            <pc:docMk/>
            <pc:sldMk cId="1179142833" sldId="256"/>
            <ac:spMk id="21" creationId="{9DEE2784-98CF-90F7-7D19-36E801C61DCA}"/>
          </ac:spMkLst>
        </pc:spChg>
        <pc:picChg chg="add mod">
          <ac:chgData name="Evan Huling" userId="7fecaf121c86c6ed" providerId="LiveId" clId="{39F7B66F-845A-4B48-A8CC-360C6F3E2521}" dt="2025-10-29T18:38:35.442" v="2093" actId="1076"/>
          <ac:picMkLst>
            <pc:docMk/>
            <pc:sldMk cId="1179142833" sldId="256"/>
            <ac:picMk id="10" creationId="{4FA2F0B7-DE92-4538-2E60-7C8385F970D8}"/>
          </ac:picMkLst>
        </pc:picChg>
        <pc:picChg chg="add mod">
          <ac:chgData name="Evan Huling" userId="7fecaf121c86c6ed" providerId="LiveId" clId="{39F7B66F-845A-4B48-A8CC-360C6F3E2521}" dt="2025-10-31T19:29:12.100" v="2114" actId="1076"/>
          <ac:picMkLst>
            <pc:docMk/>
            <pc:sldMk cId="1179142833" sldId="256"/>
            <ac:picMk id="12" creationId="{BB564FC6-1FE0-AE7B-BF74-3A68CF501271}"/>
          </ac:picMkLst>
        </pc:picChg>
        <pc:picChg chg="add mod">
          <ac:chgData name="Evan Huling" userId="7fecaf121c86c6ed" providerId="LiveId" clId="{39F7B66F-845A-4B48-A8CC-360C6F3E2521}" dt="2025-10-31T19:29:42.703" v="2117" actId="1076"/>
          <ac:picMkLst>
            <pc:docMk/>
            <pc:sldMk cId="1179142833" sldId="256"/>
            <ac:picMk id="14" creationId="{84F5F23C-ECAB-4856-EAAE-22D0D06A6127}"/>
          </ac:picMkLst>
        </pc:picChg>
        <pc:picChg chg="add mod">
          <ac:chgData name="Evan Huling" userId="7fecaf121c86c6ed" providerId="LiveId" clId="{39F7B66F-845A-4B48-A8CC-360C6F3E2521}" dt="2025-10-31T19:30:02.921" v="2121" actId="14100"/>
          <ac:picMkLst>
            <pc:docMk/>
            <pc:sldMk cId="1179142833" sldId="256"/>
            <ac:picMk id="18" creationId="{1139FFCC-601C-0C04-C3AC-83B91E456618}"/>
          </ac:picMkLst>
        </pc:picChg>
        <pc:picChg chg="add mod">
          <ac:chgData name="Evan Huling" userId="7fecaf121c86c6ed" providerId="LiveId" clId="{39F7B66F-845A-4B48-A8CC-360C6F3E2521}" dt="2025-10-29T18:40:59.474" v="2102" actId="14100"/>
          <ac:picMkLst>
            <pc:docMk/>
            <pc:sldMk cId="1179142833" sldId="256"/>
            <ac:picMk id="20" creationId="{C1777479-9F90-B119-D1E9-481A8D297C9B}"/>
          </ac:picMkLst>
        </pc:picChg>
        <pc:picChg chg="add mod">
          <ac:chgData name="Evan Huling" userId="7fecaf121c86c6ed" providerId="LiveId" clId="{39F7B66F-845A-4B48-A8CC-360C6F3E2521}" dt="2025-10-29T00:05:50.866" v="2032" actId="14100"/>
          <ac:picMkLst>
            <pc:docMk/>
            <pc:sldMk cId="1179142833" sldId="256"/>
            <ac:picMk id="23" creationId="{66DDEB0C-38C2-3DA9-E49F-B9E868DF2156}"/>
          </ac:picMkLst>
        </pc:picChg>
        <pc:picChg chg="add mod">
          <ac:chgData name="Evan Huling" userId="7fecaf121c86c6ed" providerId="LiveId" clId="{39F7B66F-845A-4B48-A8CC-360C6F3E2521}" dt="2025-10-29T18:38:48.019" v="2095" actId="14100"/>
          <ac:picMkLst>
            <pc:docMk/>
            <pc:sldMk cId="1179142833" sldId="256"/>
            <ac:picMk id="25" creationId="{1FD37F21-0E4F-AC72-C68D-7106FB6DAE91}"/>
          </ac:picMkLst>
        </pc:picChg>
        <pc:picChg chg="add mod">
          <ac:chgData name="Evan Huling" userId="7fecaf121c86c6ed" providerId="LiveId" clId="{39F7B66F-845A-4B48-A8CC-360C6F3E2521}" dt="2025-10-29T18:40:53.294" v="2101" actId="14100"/>
          <ac:picMkLst>
            <pc:docMk/>
            <pc:sldMk cId="1179142833" sldId="256"/>
            <ac:picMk id="27" creationId="{E7ED75DE-8183-DF7A-7344-BE4FBC0ACE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4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0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1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6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8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8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6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7C011-B1F6-4E8F-8355-42144B96446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0E344-3C10-4583-84D0-1F0021947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acs.org/doi/10.1021/acsami.0c02221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www.sciencedirect.com/science/article/pii/S2369969825000167?via%3Dihub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8.jpeg"/><Relationship Id="rId5" Type="http://schemas.openxmlformats.org/officeDocument/2006/relationships/image" Target="../media/image4.jpeg"/><Relationship Id="rId10" Type="http://schemas.openxmlformats.org/officeDocument/2006/relationships/image" Target="../media/image7.jpeg"/><Relationship Id="rId4" Type="http://schemas.openxmlformats.org/officeDocument/2006/relationships/image" Target="../media/image3.jpe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C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BE9CCD-3C3A-68A8-099F-9AC921038DE3}"/>
              </a:ext>
            </a:extLst>
          </p:cNvPr>
          <p:cNvSpPr txBox="1"/>
          <p:nvPr/>
        </p:nvSpPr>
        <p:spPr>
          <a:xfrm>
            <a:off x="-3048000" y="2"/>
            <a:ext cx="39014400" cy="5264967"/>
          </a:xfrm>
          <a:prstGeom prst="rect">
            <a:avLst/>
          </a:prstGeom>
          <a:solidFill>
            <a:srgbClr val="881616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2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Self-Densified Super-Strong Wood</a:t>
            </a:r>
          </a:p>
          <a:p>
            <a:pPr algn="ctr">
              <a:lnSpc>
                <a:spcPct val="150000"/>
              </a:lnSpc>
            </a:pPr>
            <a:r>
              <a:rPr lang="en-US" sz="1382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Evan Huling; Dr. Joshua Klaassen</a:t>
            </a:r>
            <a:endParaRPr lang="en-US" sz="447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3EC2D-7F08-1E41-2590-3C85613C5D1E}"/>
              </a:ext>
            </a:extLst>
          </p:cNvPr>
          <p:cNvSpPr txBox="1"/>
          <p:nvPr/>
        </p:nvSpPr>
        <p:spPr>
          <a:xfrm>
            <a:off x="-1" y="5264968"/>
            <a:ext cx="20873645" cy="6985246"/>
          </a:xfrm>
          <a:prstGeom prst="rect">
            <a:avLst/>
          </a:prstGeom>
          <a:solidFill>
            <a:schemeClr val="bg1"/>
          </a:solidFill>
          <a:ln w="28575">
            <a:solidFill>
              <a:srgbClr val="990000"/>
            </a:solidFill>
          </a:ln>
        </p:spPr>
        <p:txBody>
          <a:bodyPr wrap="square" rtlCol="0">
            <a:spAutoFit/>
          </a:bodyPr>
          <a:lstStyle/>
          <a:p>
            <a:pPr marL="1097308" indent="-1097308">
              <a:buAutoNum type="arabicParenR"/>
            </a:pP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 wood samples in a lignin removal solution composed of Na</a:t>
            </a:r>
            <a:r>
              <a:rPr lang="en-US" sz="4479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4479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KOH for 10 hours</a:t>
            </a:r>
          </a:p>
          <a:p>
            <a:pPr marL="1097308" indent="-1097308">
              <a:buAutoNum type="arabicParenR"/>
            </a:pP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Submerge wood samples in boiling DI water several times to remove residual chemicals</a:t>
            </a:r>
          </a:p>
          <a:p>
            <a:pPr marL="1097308" indent="-1097308">
              <a:buAutoNum type="arabicParenR"/>
            </a:pP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wood samples in N,N-dimethylacetamide to remove water</a:t>
            </a:r>
          </a:p>
          <a:p>
            <a:pPr marL="1097308" indent="-1097308">
              <a:buAutoNum type="arabicParenR"/>
            </a:pP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 wood samples in an N,N-dimethylacetamide and LiCl solution for 1 hour at 160 ℃</a:t>
            </a:r>
          </a:p>
          <a:p>
            <a:pPr marL="1097308" indent="-1097308">
              <a:buAutoNum type="arabicParenR"/>
            </a:pPr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wood samples air dry at room temperature</a:t>
            </a:r>
          </a:p>
          <a:p>
            <a:endParaRPr lang="en-US" sz="447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densification of wood can also be achieved through a hot compressing procedure.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FA394-C3D9-EF5D-589B-20A068CB2207}"/>
              </a:ext>
            </a:extLst>
          </p:cNvPr>
          <p:cNvSpPr txBox="1"/>
          <p:nvPr/>
        </p:nvSpPr>
        <p:spPr>
          <a:xfrm>
            <a:off x="-2586114" y="9621167"/>
            <a:ext cx="8083284" cy="4917372"/>
          </a:xfrm>
          <a:prstGeom prst="rect">
            <a:avLst/>
          </a:prstGeom>
          <a:solidFill>
            <a:schemeClr val="bg1"/>
          </a:solidFill>
          <a:ln w="28575">
            <a:solidFill>
              <a:srgbClr val="99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improvement in strength, with the tensile strength of the self-densified wood being 496.1 MPa (normal wood was around 50 MPa.)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than compressed wood, especially against the grain.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3BE16-0957-74B3-1D59-4651B9247FFD}"/>
              </a:ext>
            </a:extLst>
          </p:cNvPr>
          <p:cNvSpPr txBox="1"/>
          <p:nvPr/>
        </p:nvSpPr>
        <p:spPr>
          <a:xfrm>
            <a:off x="15731985" y="14578569"/>
            <a:ext cx="10115251" cy="4228081"/>
          </a:xfrm>
          <a:prstGeom prst="rect">
            <a:avLst/>
          </a:prstGeom>
          <a:solidFill>
            <a:schemeClr val="bg1"/>
          </a:solidFill>
          <a:ln w="28575">
            <a:solidFill>
              <a:srgbClr val="99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 am studying requires the chemical N,N-dimethylacetamide.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revolving around hot compressing is a very expensive and requires a lot of energy.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2F0B7-DE92-4538-2E60-7C8385F97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47" y="16431134"/>
            <a:ext cx="6638374" cy="49216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564FC6-1FE0-AE7B-BF74-3A68CF501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9736" y="9787187"/>
            <a:ext cx="13824780" cy="4149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F5F23C-ECAB-4856-EAAE-22D0D06A6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7891" y="4107564"/>
            <a:ext cx="7065350" cy="54330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87D8C5-5213-9E92-1D3E-FE867157D385}"/>
              </a:ext>
            </a:extLst>
          </p:cNvPr>
          <p:cNvSpPr txBox="1"/>
          <p:nvPr/>
        </p:nvSpPr>
        <p:spPr>
          <a:xfrm>
            <a:off x="26068732" y="14233860"/>
            <a:ext cx="9435785" cy="4917372"/>
          </a:xfrm>
          <a:prstGeom prst="rect">
            <a:avLst/>
          </a:prstGeom>
          <a:solidFill>
            <a:schemeClr val="bg1"/>
          </a:solidFill>
          <a:ln w="28575">
            <a:solidFill>
              <a:srgbClr val="99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more environmentally friendly method.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new uses for the self-densified wood.</a:t>
            </a:r>
          </a:p>
          <a:p>
            <a:r>
              <a:rPr lang="en-US" sz="44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procedure to expand the capabilities of the self-densified wood.</a:t>
            </a:r>
          </a:p>
        </p:txBody>
      </p:sp>
      <p:pic>
        <p:nvPicPr>
          <p:cNvPr id="18" name="Picture 17" descr="A close-up of a hole in a wood&#10;&#10;AI-generated content may be incorrect.">
            <a:extLst>
              <a:ext uri="{FF2B5EF4-FFF2-40B4-BE49-F238E27FC236}">
                <a16:creationId xmlns:a16="http://schemas.microsoft.com/office/drawing/2014/main" id="{1139FFCC-601C-0C04-C3AC-83B91E4566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6606" y="4177877"/>
            <a:ext cx="6790047" cy="5110282"/>
          </a:xfrm>
          <a:prstGeom prst="rect">
            <a:avLst/>
          </a:prstGeom>
        </p:spPr>
      </p:pic>
      <p:pic>
        <p:nvPicPr>
          <p:cNvPr id="20" name="Picture 19" descr="A graph showing the number of wood samples&#10;&#10;AI-generated content may be incorrect.">
            <a:extLst>
              <a:ext uri="{FF2B5EF4-FFF2-40B4-BE49-F238E27FC236}">
                <a16:creationId xmlns:a16="http://schemas.microsoft.com/office/drawing/2014/main" id="{C1777479-9F90-B119-D1E9-481A8D297C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71" y="9529361"/>
            <a:ext cx="9062556" cy="66049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EE2784-98CF-90F7-7D19-36E801C61DCA}"/>
              </a:ext>
            </a:extLst>
          </p:cNvPr>
          <p:cNvSpPr txBox="1"/>
          <p:nvPr/>
        </p:nvSpPr>
        <p:spPr>
          <a:xfrm>
            <a:off x="12537922" y="19652127"/>
            <a:ext cx="23428479" cy="235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463078"/>
            <a:r>
              <a:rPr lang="en-US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D., Li, J., Li, S., Cao, Z., Guo, Y., Ding, Y., Zhu, M., &amp; Chen, Y. (2025). Self-densified super-strong wood. </a:t>
            </a:r>
            <a:r>
              <a:rPr lang="en-US" sz="288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Bioresources and Bioproducts</a:t>
            </a:r>
            <a:r>
              <a:rPr lang="en-US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10(2), 199-208. </a:t>
            </a:r>
            <a:r>
              <a:rPr lang="en-US" sz="288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Self-densified super-strong wood – ScienceDirect</a:t>
            </a:r>
            <a:endParaRPr lang="en-US" sz="288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463078"/>
            <a:r>
              <a:rPr lang="en-US" sz="28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Khakalo</a:t>
            </a:r>
            <a:r>
              <a:rPr lang="en-US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Tanaka, A., Korpela, A., &amp; </a:t>
            </a:r>
            <a:r>
              <a:rPr lang="en-US" sz="28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Orelma</a:t>
            </a:r>
            <a:r>
              <a:rPr lang="en-US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(2020). Delignification and ionic liquid treatment of wood toward multifunctional high-performance structural materials. </a:t>
            </a:r>
            <a:r>
              <a:rPr lang="en-US" sz="288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ACS Applied Materials &amp; Interfaces</a:t>
            </a:r>
            <a:r>
              <a:rPr lang="en-US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12(20), 23532-23542, </a:t>
            </a:r>
            <a:r>
              <a:rPr lang="en-US" sz="288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https://pubs.acs.org/doi/10.1021/acsami.0c02221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463078"/>
            <a:endParaRPr lang="en-US" sz="32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 descr="A red square with white text&#10;&#10;AI-generated content may be incorrect.">
            <a:extLst>
              <a:ext uri="{FF2B5EF4-FFF2-40B4-BE49-F238E27FC236}">
                <a16:creationId xmlns:a16="http://schemas.microsoft.com/office/drawing/2014/main" id="{66DDEB0C-38C2-3DA9-E49F-B9E868DF21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4249" y="59535"/>
            <a:ext cx="3628992" cy="3801427"/>
          </a:xfrm>
          <a:prstGeom prst="rect">
            <a:avLst/>
          </a:prstGeom>
        </p:spPr>
      </p:pic>
      <p:pic>
        <p:nvPicPr>
          <p:cNvPr id="25" name="Picture 24" descr="A graph showing different types of wood&#10;&#10;AI-generated content may be incorrect.">
            <a:extLst>
              <a:ext uri="{FF2B5EF4-FFF2-40B4-BE49-F238E27FC236}">
                <a16:creationId xmlns:a16="http://schemas.microsoft.com/office/drawing/2014/main" id="{1FD37F21-0E4F-AC72-C68D-7106FB6DAE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6112" y="15075573"/>
            <a:ext cx="8379242" cy="6277233"/>
          </a:xfrm>
          <a:prstGeom prst="rect">
            <a:avLst/>
          </a:prstGeom>
        </p:spPr>
      </p:pic>
      <p:pic>
        <p:nvPicPr>
          <p:cNvPr id="27" name="Picture 26" descr="A graph of different sizes of wood&#10;&#10;AI-generated content may be incorrect.">
            <a:extLst>
              <a:ext uri="{FF2B5EF4-FFF2-40B4-BE49-F238E27FC236}">
                <a16:creationId xmlns:a16="http://schemas.microsoft.com/office/drawing/2014/main" id="{E7ED75DE-8183-DF7A-7344-BE4FBC0ACE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1380" y="9529359"/>
            <a:ext cx="6116397" cy="372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4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8704</TotalTime>
  <Words>295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Huling</dc:creator>
  <cp:lastModifiedBy>Evan Huling</cp:lastModifiedBy>
  <cp:revision>1</cp:revision>
  <dcterms:created xsi:type="dcterms:W3CDTF">2025-10-25T18:33:39Z</dcterms:created>
  <dcterms:modified xsi:type="dcterms:W3CDTF">2025-11-02T20:16:52Z</dcterms:modified>
</cp:coreProperties>
</file>